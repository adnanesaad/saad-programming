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6" r:id="rId3"/>
    <p:sldId id="269" r:id="rId4"/>
    <p:sldId id="270" r:id="rId5"/>
    <p:sldId id="257" r:id="rId6"/>
    <p:sldId id="258" r:id="rId7"/>
    <p:sldId id="259" r:id="rId8"/>
    <p:sldId id="260" r:id="rId9"/>
    <p:sldId id="265" r:id="rId10"/>
    <p:sldId id="261" r:id="rId11"/>
    <p:sldId id="262" r:id="rId12"/>
    <p:sldId id="272" r:id="rId13"/>
    <p:sldId id="273" r:id="rId14"/>
    <p:sldId id="263" r:id="rId15"/>
    <p:sldId id="275" r:id="rId16"/>
    <p:sldId id="274" r:id="rId17"/>
    <p:sldId id="277" r:id="rId18"/>
    <p:sldId id="264" r:id="rId19"/>
    <p:sldId id="267" r:id="rId20"/>
    <p:sldId id="271" r:id="rId21"/>
    <p:sldId id="268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0B4BAF-1392-4080-94C8-16F1C8A4BE02}" v="325" dt="2026-04-19T17:01:39.442"/>
    <p1510:client id="{B72E1CE5-A10F-4F17-8173-2D022CD3ABC7}" v="291" dt="2026-04-19T14:38:33.074"/>
    <p1510:client id="{D739BFCD-F7AE-4571-8376-A64A2ACFA79B}" v="1088" dt="2026-04-19T16:31:06.276"/>
    <p1510:client id="{F6B1B1FF-C1D3-4E33-BCB6-552667B1DCC9}" v="706" dt="2026-04-19T17:49:16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54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999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82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392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8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55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04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56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412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7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380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027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271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4238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879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9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781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5723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361" y="685799"/>
            <a:ext cx="11952110" cy="29718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Saad's Smart Orientation app Breakdown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Part By Part Detailed Breakdown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/>
              <a:t>"Made by Saad Adnane"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013BE-36A1-C8CB-2EF8-817E2B0D4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" y="1923"/>
            <a:ext cx="12188536" cy="6858385"/>
          </a:xfrm>
        </p:spPr>
        <p:txBody>
          <a:bodyPr>
            <a:normAutofit/>
          </a:bodyPr>
          <a:lstStyle/>
          <a:p>
            <a:pPr algn="ctr"/>
            <a:r>
              <a:rPr lang="en-US" sz="9600" dirty="0"/>
              <a:t>design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16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212F8F-D812-4A16-BE82-F3500DE3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nip Diagonal Corner Rectangle 24">
            <a:extLst>
              <a:ext uri="{FF2B5EF4-FFF2-40B4-BE49-F238E27FC236}">
                <a16:creationId xmlns:a16="http://schemas.microsoft.com/office/drawing/2014/main" id="{D2CF1D1B-04ED-443D-A9FE-68BF8859B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229" y="620722"/>
            <a:ext cx="10935543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Screenshot of my Smart Orientation App running before clicking &quot;Submit&quot;">
            <a:extLst>
              <a:ext uri="{FF2B5EF4-FFF2-40B4-BE49-F238E27FC236}">
                <a16:creationId xmlns:a16="http://schemas.microsoft.com/office/drawing/2014/main" id="{D7FDD2DF-565E-D1A3-2497-460D2CF47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988" y="786117"/>
            <a:ext cx="8810753" cy="4956048"/>
          </a:xfrm>
          <a:custGeom>
            <a:avLst/>
            <a:gdLst/>
            <a:ahLst/>
            <a:cxnLst/>
            <a:rect l="l" t="t" r="r" b="b"/>
            <a:pathLst>
              <a:path w="10607040" h="4956048">
                <a:moveTo>
                  <a:pt x="497480" y="0"/>
                </a:moveTo>
                <a:lnTo>
                  <a:pt x="10607040" y="0"/>
                </a:lnTo>
                <a:lnTo>
                  <a:pt x="10607040" y="4485407"/>
                </a:lnTo>
                <a:lnTo>
                  <a:pt x="10131692" y="4956048"/>
                </a:lnTo>
                <a:lnTo>
                  <a:pt x="0" y="4956048"/>
                </a:lnTo>
                <a:lnTo>
                  <a:pt x="0" y="492554"/>
                </a:ln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ECE25A-091B-3182-FB27-F0B52027C07B}"/>
              </a:ext>
            </a:extLst>
          </p:cNvPr>
          <p:cNvSpPr txBox="1"/>
          <p:nvPr/>
        </p:nvSpPr>
        <p:spPr>
          <a:xfrm>
            <a:off x="1685924" y="-74742"/>
            <a:ext cx="846772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/>
              <a:t>Smart Orientation Assistant app running 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{before clicking 'Submit'}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C481EA-0FD7-2B7C-3952-B18D27D41209}"/>
              </a:ext>
            </a:extLst>
          </p:cNvPr>
          <p:cNvSpPr txBox="1"/>
          <p:nvPr/>
        </p:nvSpPr>
        <p:spPr>
          <a:xfrm>
            <a:off x="284480" y="6156960"/>
            <a:ext cx="34848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 am working on Linux </a:t>
            </a:r>
            <a:r>
              <a:rPr lang="en-US"/>
              <a:t>fedora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29413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A212F8F-D812-4A16-BE82-F3500DE3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Diagonal Corner Rectangle 24">
            <a:extLst>
              <a:ext uri="{FF2B5EF4-FFF2-40B4-BE49-F238E27FC236}">
                <a16:creationId xmlns:a16="http://schemas.microsoft.com/office/drawing/2014/main" id="{D2CF1D1B-04ED-443D-A9FE-68BF8859B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229" y="620722"/>
            <a:ext cx="10935543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1A19AF-4104-C464-AE2D-C9AAECB10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623" y="786117"/>
            <a:ext cx="8810753" cy="4956048"/>
          </a:xfrm>
          <a:custGeom>
            <a:avLst/>
            <a:gdLst/>
            <a:ahLst/>
            <a:cxnLst/>
            <a:rect l="l" t="t" r="r" b="b"/>
            <a:pathLst>
              <a:path w="10607040" h="4956048">
                <a:moveTo>
                  <a:pt x="497480" y="0"/>
                </a:moveTo>
                <a:lnTo>
                  <a:pt x="10607040" y="0"/>
                </a:lnTo>
                <a:lnTo>
                  <a:pt x="10607040" y="4485407"/>
                </a:lnTo>
                <a:lnTo>
                  <a:pt x="10131692" y="4956048"/>
                </a:lnTo>
                <a:lnTo>
                  <a:pt x="0" y="4956048"/>
                </a:lnTo>
                <a:lnTo>
                  <a:pt x="0" y="492554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C0EB36-CBEE-B07E-3EB6-756811AACE61}"/>
              </a:ext>
            </a:extLst>
          </p:cNvPr>
          <p:cNvSpPr txBox="1"/>
          <p:nvPr/>
        </p:nvSpPr>
        <p:spPr>
          <a:xfrm>
            <a:off x="2733675" y="85725"/>
            <a:ext cx="661035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/>
              <a:t>Smart Orientation Assistant app running</a:t>
            </a:r>
            <a:endParaRPr lang="en-US"/>
          </a:p>
          <a:p>
            <a:pPr algn="ctr"/>
            <a:r>
              <a:rPr lang="en-US" dirty="0">
                <a:solidFill>
                  <a:schemeClr val="bg1"/>
                </a:solidFill>
              </a:rPr>
              <a:t>{After clicking 'Subm</a:t>
            </a:r>
            <a:r>
              <a:rPr lang="en-US">
                <a:solidFill>
                  <a:schemeClr val="bg1"/>
                </a:solidFill>
              </a:rPr>
              <a:t>it'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731844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D0EA2-E256-4E41-1B81-6DD4B794E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88" y="0"/>
            <a:ext cx="12192000" cy="6859209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#!/usr/bin/env python3</a:t>
            </a:r>
            <a:endParaRPr lang="en-US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  <a:buFont typeface="Wingdings 3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# coding: utf-8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Upwards I'm just telling your PC to run this as a Python </a:t>
            </a:r>
            <a:r>
              <a:rPr lang="en-US" err="1">
                <a:ea typeface="+mn-lt"/>
                <a:cs typeface="+mn-lt"/>
              </a:rPr>
              <a:t>code</a:t>
            </a:r>
            <a:r>
              <a:rPr lang="en-US" dirty="0">
                <a:ea typeface="+mn-lt"/>
                <a:cs typeface="+mn-lt"/>
              </a:rPr>
              <a:t> and this ensures </a:t>
            </a:r>
            <a:r>
              <a:rPr lang="en-US" err="1">
                <a:ea typeface="+mn-lt"/>
                <a:cs typeface="+mn-lt"/>
              </a:rPr>
              <a:t>comptability</a:t>
            </a:r>
            <a:r>
              <a:rPr lang="en-US" dirty="0">
                <a:ea typeface="+mn-lt"/>
                <a:cs typeface="+mn-lt"/>
              </a:rPr>
              <a:t> with mac </a:t>
            </a:r>
            <a:r>
              <a:rPr lang="en-US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 and </a:t>
            </a:r>
            <a:r>
              <a:rPr lang="en-US" err="1">
                <a:ea typeface="+mn-lt"/>
                <a:cs typeface="+mn-lt"/>
              </a:rPr>
              <a:t>linux</a:t>
            </a:r>
            <a:r>
              <a:rPr lang="en-US">
                <a:ea typeface="+mn-lt"/>
                <a:cs typeface="+mn-lt"/>
              </a:rPr>
              <a:t> while running smoothly on windows..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 In the second line I'm adding support to </a:t>
            </a:r>
            <a:r>
              <a:rPr lang="en-US" dirty="0" err="1">
                <a:ea typeface="+mn-lt"/>
                <a:cs typeface="+mn-lt"/>
              </a:rPr>
              <a:t>imogies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french</a:t>
            </a:r>
            <a:r>
              <a:rPr lang="en-US" dirty="0">
                <a:ea typeface="+mn-lt"/>
                <a:cs typeface="+mn-lt"/>
              </a:rPr>
              <a:t> accents and </a:t>
            </a:r>
            <a:r>
              <a:rPr lang="en-US" dirty="0" err="1">
                <a:ea typeface="+mn-lt"/>
                <a:cs typeface="+mn-lt"/>
              </a:rPr>
              <a:t>arabic</a:t>
            </a:r>
            <a:r>
              <a:rPr lang="en-US" dirty="0">
                <a:ea typeface="+mn-lt"/>
                <a:cs typeface="+mn-lt"/>
              </a:rPr>
              <a:t> letters "in case I needed them"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import </a:t>
            </a:r>
            <a:r>
              <a:rPr lang="en-US" sz="2800" err="1">
                <a:solidFill>
                  <a:schemeClr val="tx1"/>
                </a:solidFill>
                <a:ea typeface="+mn-lt"/>
                <a:cs typeface="+mn-lt"/>
              </a:rPr>
              <a:t>tkinter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 as </a:t>
            </a:r>
            <a:r>
              <a:rPr lang="en-US" sz="2800" err="1">
                <a:solidFill>
                  <a:schemeClr val="tx1"/>
                </a:solidFill>
                <a:ea typeface="+mn-lt"/>
                <a:cs typeface="+mn-lt"/>
              </a:rPr>
              <a:t>tk</a:t>
            </a:r>
            <a:endParaRPr lang="en-US" sz="280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from </a:t>
            </a:r>
            <a:r>
              <a:rPr lang="en-US" sz="2800" err="1">
                <a:solidFill>
                  <a:schemeClr val="tx1"/>
                </a:solidFill>
                <a:ea typeface="+mn-lt"/>
                <a:cs typeface="+mn-lt"/>
              </a:rPr>
              <a:t>tkinter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 import </a:t>
            </a:r>
            <a:r>
              <a:rPr lang="en-US" sz="2800" err="1">
                <a:solidFill>
                  <a:schemeClr val="tx1"/>
                </a:solidFill>
                <a:ea typeface="+mn-lt"/>
                <a:cs typeface="+mn-lt"/>
              </a:rPr>
              <a:t>ttk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2800" err="1">
                <a:solidFill>
                  <a:schemeClr val="tx1"/>
                </a:solidFill>
                <a:ea typeface="+mn-lt"/>
                <a:cs typeface="+mn-lt"/>
              </a:rPr>
              <a:t>messagebox</a:t>
            </a:r>
            <a:endParaRPr lang="en-US" sz="280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first line is importing a library that I need and aliasing it as </a:t>
            </a:r>
            <a:r>
              <a:rPr lang="en-US" dirty="0" err="1">
                <a:ea typeface="+mn-lt"/>
                <a:cs typeface="+mn-lt"/>
              </a:rPr>
              <a:t>tk</a:t>
            </a:r>
            <a:endParaRPr lang="en-US" dirty="0" err="1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And the second I'm importing </a:t>
            </a:r>
            <a:r>
              <a:rPr lang="en-US" dirty="0" err="1">
                <a:ea typeface="+mn-lt"/>
                <a:cs typeface="+mn-lt"/>
              </a:rPr>
              <a:t>ttk</a:t>
            </a:r>
            <a:r>
              <a:rPr lang="en-US" dirty="0">
                <a:ea typeface="+mn-lt"/>
                <a:cs typeface="+mn-lt"/>
              </a:rPr>
              <a:t> "Themed </a:t>
            </a:r>
            <a:r>
              <a:rPr lang="en-US" dirty="0" err="1">
                <a:ea typeface="+mn-lt"/>
                <a:cs typeface="+mn-lt"/>
              </a:rPr>
              <a:t>tkinter</a:t>
            </a:r>
            <a:r>
              <a:rPr lang="en-US" dirty="0">
                <a:ea typeface="+mn-lt"/>
                <a:cs typeface="+mn-lt"/>
              </a:rPr>
              <a:t>", and this themed </a:t>
            </a:r>
            <a:r>
              <a:rPr lang="en-US" dirty="0" err="1">
                <a:ea typeface="+mn-lt"/>
                <a:cs typeface="+mn-lt"/>
              </a:rPr>
              <a:t>tkinter</a:t>
            </a:r>
            <a:r>
              <a:rPr lang="en-US" dirty="0">
                <a:ea typeface="+mn-lt"/>
                <a:cs typeface="+mn-lt"/>
              </a:rPr>
              <a:t> is making it look modern unlike windows 95..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root =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tk.Tk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()</a:t>
            </a:r>
            <a:endParaRPr lang="en-US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root.title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("Saad's Orientation Assistant")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Creating main frame and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915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F3FA-F50B-5B4B-9450-D144DF15C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9" y="-940"/>
            <a:ext cx="12184473" cy="6860821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Downwards I'm creating labels and entries "simply design" and tricking </a:t>
            </a:r>
            <a:r>
              <a:rPr lang="en-US" dirty="0" err="1">
                <a:ea typeface="+mn-lt"/>
                <a:cs typeface="+mn-lt"/>
              </a:rPr>
              <a:t>tkinter</a:t>
            </a:r>
            <a:r>
              <a:rPr lang="en-US" dirty="0">
                <a:ea typeface="+mn-lt"/>
                <a:cs typeface="+mn-lt"/>
              </a:rPr>
              <a:t> so I can use ".grid" and ".pack" in the same window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MainLabel1 =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(root, text = "Welcome to Saad's Orientation app for 2AC!", font=("Arial", 16, "bold") ,foreground="Blue")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MainLabel1.pack()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MainLabel2 =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(root, text = "Write down your marks to see which orientation is best for you", font=("Arial", 12),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MainLabel2.pack()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Frame =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ttk.Frame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(root)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Frame.pack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20)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Label1 =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ttk.Label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(Frame, text = "Physics:", font = ("Arial", 10))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Label1.grid(row = 1, column = 0, sticky = "w",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Entry1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ttk.Entry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Entry1.grid(row = 1, column = 1,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Label2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(Frame, text = "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Hist.Geo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:", font = ("Arial", 10))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Label2.grid(row = 2, column = 0,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Entry2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ttk.Entry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(Frame)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Entry2.grid(row = 2, column = 1,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798377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1CB2-7AF8-8172-8C89-79F94ADD6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88" y="0"/>
            <a:ext cx="12192000" cy="6859209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Label3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(Frame, text = "ICT:", font = ("Arial", 10))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Label3.grid(row = 3, column = 0,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Entry3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ttk.Entry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Entry3.grid(row = 3, column = 1,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Label4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(Frame, text = "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Edu.Islamique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", font = ("Arial", 10))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Label4.grid(row = 4, column = 0,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Entry4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ttk.Entry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Entry4.grid(row = 4, column = 1,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Label5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(Frame, text = "English", font = ("Arial", 10))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Label5.grid(row = 5, column = 0,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Entry5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ttk.Entry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Entry5.grid(row = 5, column = 1,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Label6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(Frame, text = "Arabic", font = ("Arial", 10))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Label6.grid(row = 6, column = 0,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Entry6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ttk.Entry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Entry6.grid(row = 6, column = 1,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252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0B6AD-1DD8-A0BE-6D19-D77AA4332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88" y="0"/>
            <a:ext cx="12192000" cy="6859209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Label7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(Frame, text = "French", font = ("Arial", 10))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Label7.grid(row = 7, column = 0,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Entry7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ttk.Entry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Entry7.grid(row = 7, column = 1,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Label8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(Frame, text = "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", font = ("Arial", 10))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Label8.grid(row = 8, column = 0,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Entry8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ttk.Entry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Entry8.grid(row = 8, column = 1,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Label9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ttk.Label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(Frame, text = "SVT", font = ("Arial", 10))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Label9.grid(row = 9, column = 0,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Entry9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ttk.Entry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(Frame)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Entry9.grid(row = 9, column = 1, sticky = "w",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padx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32165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1629E-95F6-EEC1-4A7C-8EAD0DB9B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" y="1923"/>
            <a:ext cx="12110604" cy="6858385"/>
          </a:xfrm>
        </p:spPr>
        <p:txBody>
          <a:bodyPr>
            <a:normAutofit/>
          </a:bodyPr>
          <a:lstStyle/>
          <a:p>
            <a:r>
              <a:rPr lang="en-US" sz="6800" dirty="0"/>
              <a:t>The Core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276432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E7C3E-0148-C0B0-A204-5C07A2A14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528" y="-940"/>
            <a:ext cx="12193880" cy="6785562"/>
          </a:xfrm>
        </p:spPr>
        <p:txBody>
          <a:bodyPr/>
          <a:lstStyle/>
          <a:p>
            <a:r>
              <a:rPr lang="en-US" dirty="0">
                <a:ea typeface="+mn-lt"/>
                <a:cs typeface="+mn-lt"/>
              </a:rPr>
              <a:t>Saving mechanism; grabs grades and the best orientation and put </a:t>
            </a:r>
            <a:r>
              <a:rPr lang="en-US">
                <a:ea typeface="+mn-lt"/>
                <a:cs typeface="+mn-lt"/>
              </a:rPr>
              <a:t>them</a:t>
            </a:r>
            <a:r>
              <a:rPr lang="en-US" dirty="0">
                <a:ea typeface="+mn-lt"/>
                <a:cs typeface="+mn-lt"/>
              </a:rPr>
              <a:t> in a file called: Orientation_Result.txt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def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save_to_file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(result, marks):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import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os</a:t>
            </a:r>
            <a:endParaRPr lang="en-US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file_path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os.path.join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os.path.dirname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os.path.abspath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(__file__)),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"Orientation_Result.txt"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with open(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file_path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 "w", encoding="utf-8") as file: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file.write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("=== Here Are Your Marks And Your Best Orientation! ===\n")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for subject, value in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marks.items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():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 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file.write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(f"{subject}: {value}\n")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file.write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f"Best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Orientation: {result}\n\n")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486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C895-9C19-5715-9322-CDBDBA5B6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" y="1732"/>
            <a:ext cx="12188536" cy="685376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Initializing variables and checking that all inputs </a:t>
            </a:r>
            <a:r>
              <a:rPr lang="en-US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have</a:t>
            </a:r>
            <a:r>
              <a:rPr lang="en-US" dirty="0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 numbers after clicking the button</a:t>
            </a:r>
            <a:endParaRPr lang="en-US" dirty="0">
              <a:solidFill>
                <a:schemeClr val="bg2">
                  <a:lumMod val="76000"/>
                </a:schemeClr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bg2">
                    <a:lumMod val="76000"/>
                  </a:schemeClr>
                </a:solidFill>
              </a:rPr>
              <a:t>If there is a problem an error will be thrown to the user</a:t>
            </a: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def Submit():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global Physics,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HistGeo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 ICT,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EduIslamique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 English, Arabic, French,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 SVT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try: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Physics           = float (Entry1.get())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HistGeo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    = float (Entry2.get())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ICT               = float (Entry3.get())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EduIslamique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 = float (Entry4.get())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English           = float (Entry5.get())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Arabic            = float (Entry6.get())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French            = float (Entry7.get())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      = float (Entry8.get())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SVT               = float (Entry9.get())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except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ValueError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messagebox.showerror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("Input Error", "Please fill all fields with numbers only.")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return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7763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21D32-C5AC-C931-BEC9-3C2DEEB51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445" y="-1858"/>
            <a:ext cx="12195715" cy="6858412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Have you noticed this part of code?</a:t>
            </a:r>
            <a:endParaRPr lang="en-US" sz="2400" b="1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2400" b="1">
                <a:solidFill>
                  <a:schemeClr val="bg1"/>
                </a:solidFill>
              </a:rPr>
              <a:t>try:</a:t>
            </a:r>
            <a:endParaRPr lang="en-US" sz="2400" b="1" dirty="0">
              <a:solidFill>
                <a:schemeClr val="bg1"/>
              </a:solidFill>
            </a:endParaRPr>
          </a:p>
          <a:p>
            <a:pPr lvl="1">
              <a:buClr>
                <a:srgbClr val="FFFFFF"/>
              </a:buClr>
              <a:buFont typeface="Courier New" panose="05040102010807070707" pitchFamily="18" charset="2"/>
              <a:buChar char="o"/>
            </a:pPr>
            <a:r>
              <a:rPr lang="en-US" sz="2200">
                <a:solidFill>
                  <a:schemeClr val="bg1"/>
                </a:solidFill>
              </a:rPr>
              <a:t>Some code..</a:t>
            </a:r>
            <a:endParaRPr lang="en-US" sz="2200" dirty="0">
              <a:solidFill>
                <a:schemeClr val="bg1"/>
              </a:solidFill>
            </a:endParaRPr>
          </a:p>
          <a:p>
            <a:pPr lvl="1">
              <a:buClr>
                <a:srgbClr val="FFFFFF"/>
              </a:buClr>
              <a:buFont typeface="Courier New" panose="05040102010807070707" pitchFamily="18" charset="2"/>
              <a:buChar char="o"/>
            </a:pPr>
            <a:r>
              <a:rPr lang="en-US" sz="2200">
                <a:solidFill>
                  <a:schemeClr val="bg1"/>
                </a:solidFill>
              </a:rPr>
              <a:t>Other code..</a:t>
            </a:r>
            <a:endParaRPr lang="en-US" sz="2200" dirty="0">
              <a:solidFill>
                <a:schemeClr val="bg1"/>
              </a:solidFill>
            </a:endParaRPr>
          </a:p>
          <a:p>
            <a:pPr marL="457200" lvl="1" indent="0">
              <a:buClr>
                <a:srgbClr val="FFFFFF"/>
              </a:buClr>
              <a:buNone/>
            </a:pPr>
            <a:r>
              <a:rPr lang="en-US" sz="2200" b="1" dirty="0">
                <a:solidFill>
                  <a:schemeClr val="bg1"/>
                </a:solidFill>
              </a:rPr>
              <a:t>except </a:t>
            </a:r>
            <a:r>
              <a:rPr lang="en-US" sz="2200" b="1" dirty="0" err="1">
                <a:solidFill>
                  <a:schemeClr val="bg1"/>
                </a:solidFill>
              </a:rPr>
              <a:t>ValueError</a:t>
            </a:r>
            <a:r>
              <a:rPr lang="en-US" sz="2200" b="1" dirty="0">
                <a:solidFill>
                  <a:schemeClr val="bg1"/>
                </a:solidFill>
              </a:rPr>
              <a:t>: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sz="2200" b="1" dirty="0">
                <a:solidFill>
                  <a:schemeClr val="bg1"/>
                </a:solidFill>
              </a:rPr>
              <a:t>     </a:t>
            </a:r>
            <a:r>
              <a:rPr lang="en-US" sz="1900" b="1" dirty="0" err="1">
                <a:solidFill>
                  <a:schemeClr val="bg1"/>
                </a:solidFill>
              </a:rPr>
              <a:t>messagebox.showerror</a:t>
            </a:r>
            <a:r>
              <a:rPr lang="en-US" sz="1900" b="1" dirty="0">
                <a:solidFill>
                  <a:schemeClr val="bg1"/>
                </a:solidFill>
              </a:rPr>
              <a:t>("Input Error", "Please fill all fields with numbers only.")</a:t>
            </a:r>
          </a:p>
          <a:p>
            <a:pPr marL="457200" lvl="1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It is looking for user errors, so it displays a pop-up in case the user left one of the </a:t>
            </a:r>
            <a:r>
              <a:rPr lang="en-US" sz="2200" b="1">
                <a:solidFill>
                  <a:schemeClr val="tx1"/>
                </a:solidFill>
              </a:rPr>
              <a:t>inputs empty or wrote letters instead of numbers, you will see it in action on the next slide..</a:t>
            </a:r>
          </a:p>
          <a:p>
            <a:pPr marL="457200" lvl="1" indent="0">
              <a:buNone/>
            </a:pPr>
            <a:r>
              <a:rPr lang="en-US" sz="2200" b="1">
                <a:solidFill>
                  <a:schemeClr val="bg1"/>
                </a:solidFill>
              </a:rPr>
              <a:t> </a:t>
            </a:r>
            <a:endParaRPr lang="en-US" sz="2200" b="1" dirty="0">
              <a:solidFill>
                <a:schemeClr val="bg1"/>
              </a:solidFill>
            </a:endParaRPr>
          </a:p>
          <a:p>
            <a:pPr marL="457200" lvl="1" indent="0">
              <a:buClr>
                <a:prstClr val="white"/>
              </a:buClr>
              <a:buNone/>
            </a:pPr>
            <a:r>
              <a:rPr lang="en-US" sz="2200" b="1">
                <a:solidFill>
                  <a:srgbClr val="000000"/>
                </a:solidFill>
              </a:rPr>
              <a:t> </a:t>
            </a:r>
            <a:endParaRPr lang="en-US" sz="2200" b="1" dirty="0">
              <a:solidFill>
                <a:srgbClr val="000000"/>
              </a:solidFill>
            </a:endParaRPr>
          </a:p>
          <a:p>
            <a:pPr>
              <a:buClr>
                <a:srgbClr val="FFFFFF"/>
              </a:buClr>
            </a:pP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57803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CBC587-D88E-96CE-E2C9-8C2F28A8F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919" y="1097060"/>
            <a:ext cx="5237658" cy="4334162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474E61-92BC-A321-DE72-91EA16471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131495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So here, the app caught me not completing all inputs and writing some random letters in </a:t>
            </a:r>
            <a:r>
              <a:rPr lang="en-US" b="1">
                <a:solidFill>
                  <a:schemeClr val="bg1"/>
                </a:solidFill>
              </a:rPr>
              <a:t>others..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1336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6FAF9-6FE7-E841-BFD4-484DDB2BE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528" y="-940"/>
            <a:ext cx="12193880" cy="6860821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Initializing variables holding every orientation's marks "including coefficients", calculating the one with most marks, putting in in a variable called "Best" and calculating total orientations scores "For Percentage" </a:t>
            </a:r>
            <a:r>
              <a:rPr lang="en-US" dirty="0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to ensure the recommendations are academically accurate</a:t>
            </a:r>
            <a:endParaRPr lang="en-US" b="1" dirty="0">
              <a:solidFill>
                <a:schemeClr val="bg2">
                  <a:lumMod val="76000"/>
                </a:schemeClr>
              </a:solidFill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   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AuthenticEducation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(Physics * 0) + (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HistGeo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3) + (ICT * 2) + (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EduIslamique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4) + (English * 2) + (Arabic * 4) + (French * 3) + (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2) + (SVT * 2)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ArtsAndHumanities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 = (Physics * 0) + 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HistGeo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4) + (ICT * 2) + 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EduIslamique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0) + (English * 3) + (Arabic * 4) + (French * 4) + 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2) + (SVT * 2)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ScientificTrunk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= (Physics * 4) + 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HistGeo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2) + (ICT * 2) + 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EduIslamique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0) + (English * 3) + (Arabic * 2) + (French * 3) + 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4) + (SVT * 4)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TechnologicalStump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(Physics * 4) + 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HistGeo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2) + (ICT * 3) + 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EduIslamique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0) + (English * 3) + (Arabic * 2) + (French * 3) + 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* 4) + (SVT * 0)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Best = max(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AuthenticEducation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ArtsAndHumanities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ScientificTrunk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TechnologicalStump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TotalScore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AuthenticEducation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+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ArtsAndHumanities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+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ScientificTrunk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+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TechnologicalStump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535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4FA0B-0CED-57D5-D1C3-FB966D0B6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0617" y="1791630"/>
            <a:ext cx="12195716" cy="3280730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    </a:t>
            </a:r>
            <a:r>
              <a:rPr lang="en-US" sz="2400" b="1" dirty="0" err="1">
                <a:solidFill>
                  <a:schemeClr val="tx1"/>
                </a:solidFill>
              </a:rPr>
              <a:t>AuthenticEducationPercent</a:t>
            </a:r>
            <a:r>
              <a:rPr lang="en-US" sz="2400" b="1" dirty="0">
                <a:solidFill>
                  <a:schemeClr val="tx1"/>
                </a:solidFill>
              </a:rPr>
              <a:t> = (</a:t>
            </a:r>
            <a:r>
              <a:rPr lang="en-US" sz="2400" b="1" dirty="0" err="1">
                <a:solidFill>
                  <a:schemeClr val="tx1"/>
                </a:solidFill>
              </a:rPr>
              <a:t>AuthenticEducation</a:t>
            </a:r>
            <a:r>
              <a:rPr lang="en-US" sz="2400" b="1" dirty="0">
                <a:solidFill>
                  <a:schemeClr val="tx1"/>
                </a:solidFill>
              </a:rPr>
              <a:t> / </a:t>
            </a:r>
            <a:r>
              <a:rPr lang="en-US" sz="2400" b="1" dirty="0" err="1">
                <a:solidFill>
                  <a:schemeClr val="tx1"/>
                </a:solidFill>
              </a:rPr>
              <a:t>TotalScore</a:t>
            </a:r>
            <a:r>
              <a:rPr lang="en-US" sz="2400" b="1" dirty="0">
                <a:solidFill>
                  <a:schemeClr val="tx1"/>
                </a:solidFill>
              </a:rPr>
              <a:t>) * 100</a:t>
            </a:r>
          </a:p>
          <a:p>
            <a:pPr>
              <a:buClr>
                <a:srgbClr val="FFFFFF"/>
              </a:buClr>
            </a:pPr>
            <a:r>
              <a:rPr lang="en-US" sz="2400" b="1" dirty="0">
                <a:solidFill>
                  <a:schemeClr val="tx1"/>
                </a:solidFill>
              </a:rPr>
              <a:t>    </a:t>
            </a:r>
            <a:r>
              <a:rPr lang="en-US" sz="2400" b="1" dirty="0" err="1">
                <a:solidFill>
                  <a:schemeClr val="tx1"/>
                </a:solidFill>
              </a:rPr>
              <a:t>ArtsAndHumanitiesPercent</a:t>
            </a:r>
            <a:r>
              <a:rPr lang="en-US" sz="2400" b="1" dirty="0">
                <a:solidFill>
                  <a:schemeClr val="tx1"/>
                </a:solidFill>
              </a:rPr>
              <a:t>  = (</a:t>
            </a:r>
            <a:r>
              <a:rPr lang="en-US" sz="2400" b="1" dirty="0" err="1">
                <a:solidFill>
                  <a:schemeClr val="tx1"/>
                </a:solidFill>
              </a:rPr>
              <a:t>ArtsAndHumanities</a:t>
            </a:r>
            <a:r>
              <a:rPr lang="en-US" sz="2400" b="1" dirty="0">
                <a:solidFill>
                  <a:schemeClr val="tx1"/>
                </a:solidFill>
              </a:rPr>
              <a:t>  / </a:t>
            </a:r>
            <a:r>
              <a:rPr lang="en-US" sz="2400" b="1" dirty="0" err="1">
                <a:solidFill>
                  <a:schemeClr val="tx1"/>
                </a:solidFill>
              </a:rPr>
              <a:t>TotalScore</a:t>
            </a:r>
            <a:r>
              <a:rPr lang="en-US" sz="2400" b="1" dirty="0">
                <a:solidFill>
                  <a:schemeClr val="tx1"/>
                </a:solidFill>
              </a:rPr>
              <a:t>) * 100</a:t>
            </a:r>
          </a:p>
          <a:p>
            <a:pPr>
              <a:buClr>
                <a:srgbClr val="FFFFFF"/>
              </a:buClr>
            </a:pPr>
            <a:r>
              <a:rPr lang="en-US" sz="2400" b="1" dirty="0">
                <a:solidFill>
                  <a:schemeClr val="tx1"/>
                </a:solidFill>
              </a:rPr>
              <a:t>    </a:t>
            </a:r>
            <a:r>
              <a:rPr lang="en-US" sz="2400" b="1" dirty="0" err="1">
                <a:solidFill>
                  <a:schemeClr val="tx1"/>
                </a:solidFill>
              </a:rPr>
              <a:t>ScientificTrunkPercent</a:t>
            </a:r>
            <a:r>
              <a:rPr lang="en-US" sz="2400" b="1" dirty="0">
                <a:solidFill>
                  <a:schemeClr val="tx1"/>
                </a:solidFill>
              </a:rPr>
              <a:t>    = (</a:t>
            </a:r>
            <a:r>
              <a:rPr lang="en-US" sz="2400" b="1" dirty="0" err="1">
                <a:solidFill>
                  <a:schemeClr val="tx1"/>
                </a:solidFill>
              </a:rPr>
              <a:t>ScientificTrunk</a:t>
            </a:r>
            <a:r>
              <a:rPr lang="en-US" sz="2400" b="1" dirty="0">
                <a:solidFill>
                  <a:schemeClr val="tx1"/>
                </a:solidFill>
              </a:rPr>
              <a:t>    / </a:t>
            </a:r>
            <a:r>
              <a:rPr lang="en-US" sz="2400" b="1" dirty="0" err="1">
                <a:solidFill>
                  <a:schemeClr val="tx1"/>
                </a:solidFill>
              </a:rPr>
              <a:t>TotalScore</a:t>
            </a:r>
            <a:r>
              <a:rPr lang="en-US" sz="2400" b="1" dirty="0">
                <a:solidFill>
                  <a:schemeClr val="tx1"/>
                </a:solidFill>
              </a:rPr>
              <a:t>) * 100</a:t>
            </a:r>
          </a:p>
          <a:p>
            <a:pPr>
              <a:buClr>
                <a:srgbClr val="FFFFFF"/>
              </a:buClr>
            </a:pPr>
            <a:r>
              <a:rPr lang="en-US" sz="2400" b="1" dirty="0">
                <a:solidFill>
                  <a:schemeClr val="tx1"/>
                </a:solidFill>
              </a:rPr>
              <a:t>    </a:t>
            </a:r>
            <a:r>
              <a:rPr lang="en-US" sz="2400" b="1" dirty="0" err="1">
                <a:solidFill>
                  <a:schemeClr val="tx1"/>
                </a:solidFill>
              </a:rPr>
              <a:t>TechnologicalStumpPercent</a:t>
            </a:r>
            <a:r>
              <a:rPr lang="en-US" sz="2400" b="1" dirty="0">
                <a:solidFill>
                  <a:schemeClr val="tx1"/>
                </a:solidFill>
              </a:rPr>
              <a:t> = (</a:t>
            </a:r>
            <a:r>
              <a:rPr lang="en-US" sz="2400" b="1" dirty="0" err="1">
                <a:solidFill>
                  <a:schemeClr val="tx1"/>
                </a:solidFill>
              </a:rPr>
              <a:t>TechnologicalStump</a:t>
            </a:r>
            <a:r>
              <a:rPr lang="en-US" sz="2400" b="1" dirty="0">
                <a:solidFill>
                  <a:schemeClr val="tx1"/>
                </a:solidFill>
              </a:rPr>
              <a:t> / </a:t>
            </a:r>
            <a:r>
              <a:rPr lang="en-US" sz="2400" b="1" dirty="0" err="1">
                <a:solidFill>
                  <a:schemeClr val="tx1"/>
                </a:solidFill>
              </a:rPr>
              <a:t>TotalScore</a:t>
            </a:r>
            <a:r>
              <a:rPr lang="en-US" sz="2400" b="1" dirty="0">
                <a:solidFill>
                  <a:schemeClr val="tx1"/>
                </a:solidFill>
              </a:rPr>
              <a:t>) * 100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C1D18-8E82-78F7-254C-92AD1A33BC1E}"/>
              </a:ext>
            </a:extLst>
          </p:cNvPr>
          <p:cNvSpPr txBox="1"/>
          <p:nvPr/>
        </p:nvSpPr>
        <p:spPr>
          <a:xfrm>
            <a:off x="87971" y="879582"/>
            <a:ext cx="1200912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Here, we are initializing four variables to carry the </a:t>
            </a:r>
            <a:r>
              <a:rPr lang="en-US" sz="2800" b="1">
                <a:solidFill>
                  <a:schemeClr val="bg1"/>
                </a:solidFill>
              </a:rPr>
              <a:t>percentages..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829098"/>
      </p:ext>
    </p:extLst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FDCE8-A5D2-E4F0-66EF-A19D7507C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446" y="-1857"/>
            <a:ext cx="12195716" cy="6858411"/>
          </a:xfrm>
        </p:spPr>
        <p:txBody>
          <a:bodyPr>
            <a:normAutofit fontScale="92500" lnSpcReduction="20000"/>
          </a:bodyPr>
          <a:lstStyle/>
          <a:p>
            <a:pPr marL="0" indent="0">
              <a:buClr>
                <a:prstClr val="white"/>
              </a:buClr>
              <a:buNone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     </a:t>
            </a: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Here, we are doing some "if" statements to see if the user gave a mark bigger </a:t>
            </a:r>
            <a:r>
              <a:rPr lang="en-US" sz="2400" b="1">
                <a:solidFill>
                  <a:schemeClr val="bg1"/>
                </a:solidFill>
                <a:ea typeface="+mn-lt"/>
                <a:cs typeface="+mn-lt"/>
              </a:rPr>
              <a:t>than 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    "20" or less than "0" which is impossible "it should be a typo", so if he did, we will </a:t>
            </a:r>
            <a:r>
              <a:rPr lang="en-US" sz="2400" b="1">
                <a:solidFill>
                  <a:schemeClr val="bg1"/>
                </a:solidFill>
                <a:ea typeface="+mn-lt"/>
                <a:cs typeface="+mn-lt"/>
              </a:rPr>
              <a:t>give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       him a pop-up, we will </a:t>
            </a:r>
            <a:r>
              <a:rPr lang="en-US" sz="2400" b="1" dirty="0" err="1">
                <a:solidFill>
                  <a:schemeClr val="bg1"/>
                </a:solidFill>
                <a:ea typeface="+mn-lt"/>
                <a:cs typeface="+mn-lt"/>
              </a:rPr>
              <a:t>se</a:t>
            </a: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 it in action next slide..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  <a:ea typeface="+mn-lt"/>
                <a:cs typeface="+mn-lt"/>
              </a:rPr>
              <a:t>         if (Physics &gt; 20 or Physics &lt; 0):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messagebox.showerror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("Input Error", "Please put values between 0 and 20")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(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HistGeo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&gt; 20 or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HistGeo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&lt; 0):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messagebox.showerror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("Input Error", "Please put values between 0 and 20")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(ICT &gt; 20 or ICT &lt; 0):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messagebox.showerror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("Input Error", "Please put values between 0 and 20")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(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EduIslamique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&gt; 20 or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EduIslamique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&lt; 0):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messagebox.showerror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("Input Error", "Please put values between 0 and 20")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(English &gt; 20 or English &lt; 0):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messagebox.showerror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("Input Error", "Please put values between 0 and 20")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(Arabic &gt; 20 or Arabic &lt; 0):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messagebox.showerror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("Input Error", "Please put values between 0 and 20")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(French &gt; 20 or French &lt; 0):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messagebox.showerror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("Input Error", "Please put values between 0 and 20")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(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&gt; 20 or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&lt; 0):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messagebox.showerror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("Input Error", "Please put values between 0 and 20")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(SVT &gt; 20 or SVT &lt; 0):</a:t>
            </a:r>
            <a:endParaRPr lang="en-US" sz="1600" b="1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sz="1600" b="1" dirty="0" err="1">
                <a:solidFill>
                  <a:schemeClr val="tx1"/>
                </a:solidFill>
                <a:ea typeface="+mn-lt"/>
                <a:cs typeface="+mn-lt"/>
              </a:rPr>
              <a:t>messagebox.showerror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("Input Error", "Please put values between 0 and 20")</a:t>
            </a:r>
            <a:endParaRPr lang="en-US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4780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9731C5-C70F-E520-FC33-B3185021A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01800" y="5434"/>
            <a:ext cx="4586636" cy="599819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517B03-A692-BDE2-8F56-EEC4A0687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71" y="964232"/>
            <a:ext cx="4410075" cy="5895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F1A366-5F03-5055-DB0F-9B834E45EC87}"/>
              </a:ext>
            </a:extLst>
          </p:cNvPr>
          <p:cNvSpPr txBox="1"/>
          <p:nvPr/>
        </p:nvSpPr>
        <p:spPr>
          <a:xfrm>
            <a:off x="60960" y="40639"/>
            <a:ext cx="402336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Below I wrote in physics a value </a:t>
            </a:r>
            <a:r>
              <a:rPr lang="en-US" sz="2000" b="1"/>
              <a:t>that is less than zero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828A9C-2153-6097-8542-36D62D9586EA}"/>
              </a:ext>
            </a:extLst>
          </p:cNvPr>
          <p:cNvSpPr txBox="1"/>
          <p:nvPr/>
        </p:nvSpPr>
        <p:spPr>
          <a:xfrm>
            <a:off x="7599680" y="6126480"/>
            <a:ext cx="44399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Below I wrote in physics a value </a:t>
            </a:r>
            <a:r>
              <a:rPr lang="en-US" sz="2000" b="1"/>
              <a:t>that is bigger than zero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E5261E-F041-78D7-43C0-C568C0D9B456}"/>
              </a:ext>
            </a:extLst>
          </p:cNvPr>
          <p:cNvSpPr txBox="1"/>
          <p:nvPr/>
        </p:nvSpPr>
        <p:spPr>
          <a:xfrm>
            <a:off x="4546475" y="792727"/>
            <a:ext cx="3105614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My</a:t>
            </a:r>
            <a:r>
              <a:rPr lang="en-US" sz="2400" dirty="0"/>
              <a:t> </a:t>
            </a:r>
            <a:r>
              <a:rPr lang="en-US" sz="4200" b="1" dirty="0">
                <a:solidFill>
                  <a:schemeClr val="bg1"/>
                </a:solidFill>
              </a:rPr>
              <a:t>Smart Orientation Assistant app</a:t>
            </a:r>
            <a:r>
              <a:rPr lang="en-US" sz="2400" dirty="0"/>
              <a:t> </a:t>
            </a:r>
            <a:r>
              <a:rPr lang="en-US" sz="4000" dirty="0"/>
              <a:t>is also smart in terms of </a:t>
            </a:r>
            <a:r>
              <a:rPr lang="en-US" sz="4000"/>
              <a:t>Error-Handling!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650488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1963-0CED-33FC-FAF7-8B33C1422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" y="1732"/>
            <a:ext cx="12188536" cy="6853766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Outputing</a:t>
            </a:r>
            <a:r>
              <a:rPr lang="en-US" dirty="0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 to the user based on the best Orientation</a:t>
            </a: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if (Best == AuthenticEducation):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best_orientation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"Authentic Education"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(Best ==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ArtsAndHumanities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):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best_orientation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"Arts And Humanities"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(Best ==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ScientificTrunk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):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best_orientation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"Scientific Trunk"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elif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(Best ==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TechnologicalStump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):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best_orientation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= "Technological Stump"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messagebox.showinfo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"Analysis Results",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f"The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Best Orientation For You is: {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best_orientation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}\n\n"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f"Authentic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Education: {AuthenticEducationPercent:.0f}%\n"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f"Arts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And Humanities: {ArtsAndHumanitiesPercent:.0f}%\n"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f"Scientific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Trunk: {ScientificTrunkPercent:.0f}%\n"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f"Technological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Stump: {TechnologicalStumpPercent:.0f}%\n"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     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C59C-E54A-FF36-4EB3-96023270D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" y="1732"/>
            <a:ext cx="12188536" cy="68537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Creating a variable of type "dictionary" to store the name of subject plus its value "the mark you typed" Permanently on your PC!! + we will see a screenshot of </a:t>
            </a:r>
            <a:r>
              <a:rPr lang="en-US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the saved .txt file..</a:t>
            </a:r>
            <a:endParaRPr lang="en-US" dirty="0">
              <a:solidFill>
                <a:schemeClr val="bg2">
                  <a:lumMod val="76000"/>
                </a:schemeClr>
              </a:solidFill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marks = {</a:t>
            </a:r>
            <a:endParaRPr lang="en-US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"Physics": Physics,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"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Hist.Geo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": </a:t>
            </a: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HistGeo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"ICT": ICT,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"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Edu.Islamique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":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EduIslamique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"English": English,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"Arabic": Arabic,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"French": French,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"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":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Maths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"SVT": SVT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}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Calling the </a:t>
            </a:r>
            <a:r>
              <a:rPr lang="en-US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we set in</a:t>
            </a:r>
            <a:r>
              <a:rPr lang="en-US" dirty="0">
                <a:solidFill>
                  <a:schemeClr val="bg2">
                    <a:lumMod val="76000"/>
                  </a:schemeClr>
                </a:solidFill>
              </a:rPr>
              <a:t> </a:t>
            </a:r>
            <a:r>
              <a:rPr lang="en-US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Slide 11</a:t>
            </a: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save_to_file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best_orientation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, marks)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0410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The text file of the app">
            <a:extLst>
              <a:ext uri="{FF2B5EF4-FFF2-40B4-BE49-F238E27FC236}">
                <a16:creationId xmlns:a16="http://schemas.microsoft.com/office/drawing/2014/main" id="{41D87426-642B-B55A-277A-7CA5CBAEC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0342" y="1301100"/>
            <a:ext cx="7348139" cy="4041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376EB6-0FFC-0B39-22C8-50F68BD64F44}"/>
              </a:ext>
            </a:extLst>
          </p:cNvPr>
          <p:cNvSpPr txBox="1"/>
          <p:nvPr/>
        </p:nvSpPr>
        <p:spPr>
          <a:xfrm>
            <a:off x="930" y="4067"/>
            <a:ext cx="12193857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/>
              <a:t>The file generated by the Smart Orientation Assistant app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{This file is created once the user clicks 'submit'}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{It is stored on the same directory as the mai</a:t>
            </a:r>
            <a:r>
              <a:rPr lang="en-US" dirty="0">
                <a:solidFill>
                  <a:schemeClr val="bg1"/>
                </a:solidFill>
              </a:rPr>
              <a:t>n program}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{If the user updates the </a:t>
            </a:r>
            <a:r>
              <a:rPr lang="en-US">
                <a:solidFill>
                  <a:schemeClr val="bg1"/>
                </a:solidFill>
              </a:rPr>
              <a:t>marks, then he clicked 'Submit' again, the marks will be added into the same file}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61FA91-6AA7-5F52-1605-4488155763D2}"/>
              </a:ext>
            </a:extLst>
          </p:cNvPr>
          <p:cNvSpPr txBox="1"/>
          <p:nvPr/>
        </p:nvSpPr>
        <p:spPr>
          <a:xfrm>
            <a:off x="2824479" y="5344160"/>
            <a:ext cx="65430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The app provides more than a pop-up. It generates a permanent, UTF-8 encoded record of the student's marks </a:t>
            </a:r>
            <a:r>
              <a:rPr lang="en-US" b="1">
                <a:ea typeface="+mn-lt"/>
                <a:cs typeface="+mn-lt"/>
              </a:rPr>
              <a:t>and the best orientation path, this makes it a tool that can be shared with parents or teachers!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38194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748C6-01D8-A5FA-BC49-B1DAFAF33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" y="1732"/>
            <a:ext cx="12188536" cy="6853766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Creating a "Submit" button</a:t>
            </a:r>
            <a:endParaRPr lang="en-US"/>
          </a:p>
          <a:p>
            <a:pPr marL="0" indent="0">
              <a:buClr>
                <a:srgbClr val="FFFFFF"/>
              </a:buClr>
              <a:buNone/>
            </a:pPr>
            <a:r>
              <a:rPr lang="en-US" sz="2800" dirty="0" err="1">
                <a:solidFill>
                  <a:schemeClr val="tx1"/>
                </a:solidFill>
                <a:ea typeface="+mn-lt"/>
                <a:cs typeface="+mn-lt"/>
              </a:rPr>
              <a:t>SubmitButton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 = </a:t>
            </a:r>
            <a:r>
              <a:rPr lang="en-US" sz="2800" dirty="0" err="1">
                <a:solidFill>
                  <a:schemeClr val="tx1"/>
                </a:solidFill>
                <a:ea typeface="+mn-lt"/>
                <a:cs typeface="+mn-lt"/>
              </a:rPr>
              <a:t>tk.Button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(Frame, text = "Submit", </a:t>
            </a:r>
            <a:r>
              <a:rPr lang="en-US" sz="2800" dirty="0" err="1">
                <a:solidFill>
                  <a:schemeClr val="tx1"/>
                </a:solidFill>
                <a:ea typeface="+mn-lt"/>
                <a:cs typeface="+mn-lt"/>
              </a:rPr>
              <a:t>bg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 = "gray", command = Submit)</a:t>
            </a:r>
            <a:endParaRPr lang="en-US" sz="2800">
              <a:solidFill>
                <a:schemeClr val="tx1"/>
              </a:solidFill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2800" dirty="0" err="1">
                <a:solidFill>
                  <a:schemeClr val="tx1"/>
                </a:solidFill>
                <a:ea typeface="+mn-lt"/>
                <a:cs typeface="+mn-lt"/>
              </a:rPr>
              <a:t>SubmitButton.grid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(row = 10, column = 0, </a:t>
            </a:r>
            <a:r>
              <a:rPr lang="en-US" sz="2800" dirty="0" err="1">
                <a:solidFill>
                  <a:schemeClr val="tx1"/>
                </a:solidFill>
                <a:ea typeface="+mn-lt"/>
                <a:cs typeface="+mn-lt"/>
              </a:rPr>
              <a:t>columnspan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 = 2, </a:t>
            </a:r>
            <a:r>
              <a:rPr lang="en-US" sz="2800" dirty="0" err="1">
                <a:solidFill>
                  <a:schemeClr val="tx1"/>
                </a:solidFill>
                <a:ea typeface="+mn-lt"/>
                <a:cs typeface="+mn-lt"/>
              </a:rPr>
              <a:t>pady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 = 10)</a:t>
            </a:r>
            <a:endParaRPr lang="en-US" sz="2800">
              <a:solidFill>
                <a:schemeClr val="tx1"/>
              </a:solidFill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2800" dirty="0">
                <a:solidFill>
                  <a:schemeClr val="bg2">
                    <a:lumMod val="76000"/>
                  </a:schemeClr>
                </a:solidFill>
              </a:rPr>
              <a:t>Keeping the app running over and over until the user exits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sz="2800" dirty="0" err="1">
                <a:solidFill>
                  <a:schemeClr val="tx1"/>
                </a:solidFill>
                <a:ea typeface="+mn-lt"/>
                <a:cs typeface="+mn-lt"/>
              </a:rPr>
              <a:t>root.mainloop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()</a:t>
            </a:r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790126"/>
      </p:ext>
    </p:extLst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1C70367-4458-4780-9E4B-5F52B3A95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nip Single Corner Rectangle 1">
            <a:extLst>
              <a:ext uri="{FF2B5EF4-FFF2-40B4-BE49-F238E27FC236}">
                <a16:creationId xmlns:a16="http://schemas.microsoft.com/office/drawing/2014/main" id="{B9BAF2F7-47D9-4779-AF6A-86BB0E7B0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28509" y="786117"/>
            <a:ext cx="3302666" cy="4956050"/>
          </a:xfrm>
          <a:prstGeom prst="snip1Rect">
            <a:avLst>
              <a:gd name="adj" fmla="val 15513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A5AAE2-8ADA-4015-05FC-9AACA72B1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93" y="1283897"/>
            <a:ext cx="2969600" cy="3972708"/>
          </a:xfrm>
          <a:custGeom>
            <a:avLst/>
            <a:gdLst/>
            <a:ahLst/>
            <a:cxnLst/>
            <a:rect l="l" t="t" r="r" b="b"/>
            <a:pathLst>
              <a:path w="2969600" h="4616450">
                <a:moveTo>
                  <a:pt x="456876" y="0"/>
                </a:moveTo>
                <a:lnTo>
                  <a:pt x="2969600" y="0"/>
                </a:lnTo>
                <a:lnTo>
                  <a:pt x="2969600" y="4616450"/>
                </a:lnTo>
                <a:lnTo>
                  <a:pt x="0" y="4616450"/>
                </a:lnTo>
                <a:lnTo>
                  <a:pt x="0" y="456876"/>
                </a:lnTo>
                <a:close/>
              </a:path>
            </a:pathLst>
          </a:custGeom>
        </p:spPr>
      </p:pic>
      <p:sp>
        <p:nvSpPr>
          <p:cNvPr id="32" name="Snip Single Corner Rectangle 25">
            <a:extLst>
              <a:ext uri="{FF2B5EF4-FFF2-40B4-BE49-F238E27FC236}">
                <a16:creationId xmlns:a16="http://schemas.microsoft.com/office/drawing/2014/main" id="{2633B343-7777-47E9-9E89-817F4B43C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7156" y="792751"/>
            <a:ext cx="2759582" cy="2390956"/>
          </a:xfrm>
          <a:prstGeom prst="snip1Rect">
            <a:avLst>
              <a:gd name="adj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4F7397-878A-75F0-F2B4-380129D80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151" y="962026"/>
            <a:ext cx="1549592" cy="2073033"/>
          </a:xfrm>
          <a:prstGeom prst="rect">
            <a:avLst/>
          </a:prstGeom>
        </p:spPr>
      </p:pic>
      <p:sp>
        <p:nvSpPr>
          <p:cNvPr id="33" name="Snip Single Corner Rectangle 19">
            <a:extLst>
              <a:ext uri="{FF2B5EF4-FFF2-40B4-BE49-F238E27FC236}">
                <a16:creationId xmlns:a16="http://schemas.microsoft.com/office/drawing/2014/main" id="{C9783272-80BE-49B3-AB46-FD6D7B3CA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277591" y="3355734"/>
            <a:ext cx="2761384" cy="2386431"/>
          </a:xfrm>
          <a:prstGeom prst="snip1Rect">
            <a:avLst>
              <a:gd name="adj" fmla="val 21015"/>
            </a:avLst>
          </a:prstGeom>
          <a:solidFill>
            <a:schemeClr val="tx1"/>
          </a:solidFill>
          <a:ln>
            <a:noFill/>
          </a:ln>
          <a:effectLst>
            <a:innerShdw blurRad="57150" dist="38100" dir="60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2A974D-B93D-3D84-5594-FAF9AB1C7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847" y="3525010"/>
            <a:ext cx="1545125" cy="2053465"/>
          </a:xfrm>
          <a:custGeom>
            <a:avLst/>
            <a:gdLst/>
            <a:ahLst/>
            <a:cxnLst/>
            <a:rect l="l" t="t" r="r" b="b"/>
            <a:pathLst>
              <a:path w="2385010" h="2053465">
                <a:moveTo>
                  <a:pt x="0" y="0"/>
                </a:moveTo>
                <a:lnTo>
                  <a:pt x="2385010" y="0"/>
                </a:lnTo>
                <a:lnTo>
                  <a:pt x="2385010" y="1578360"/>
                </a:lnTo>
                <a:lnTo>
                  <a:pt x="1909905" y="2053465"/>
                </a:lnTo>
                <a:lnTo>
                  <a:pt x="0" y="2053465"/>
                </a:ln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0EECF74-1539-4904-8105-7F92C74D2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B5C288-0CD3-4EC2-8A54-2D178E3F2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9F9FDD8-AE0E-443D-A1B3-D5C865503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7312449-CC32-4DE3-9369-2AF8BB06A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D440D86-1025-4CA5-BC7B-82F2A6F28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3AF6BD2-5912-4418-980B-F843A61FE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A0E05-46BB-95E1-EA3B-33E71EE6B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4710" y="1822448"/>
            <a:ext cx="5162896" cy="366395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This tool bridges the gap between raw data and a student's future. It is not just a script; it is a </a:t>
            </a:r>
          </a:p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  <a:ea typeface="+mn-lt"/>
                <a:cs typeface="+mn-lt"/>
              </a:rPr>
              <a:t>Smart Orientation Assistant !!</a:t>
            </a:r>
            <a:endParaRPr lang="en-US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1503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Slice</vt:lpstr>
      <vt:lpstr>Saad's Smart Orientation app Breakdown</vt:lpstr>
      <vt:lpstr>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Core Of The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749</cp:revision>
  <dcterms:created xsi:type="dcterms:W3CDTF">2026-02-21T23:37:40Z</dcterms:created>
  <dcterms:modified xsi:type="dcterms:W3CDTF">2026-04-19T17:49:19Z</dcterms:modified>
</cp:coreProperties>
</file>